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90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77647" y="1268956"/>
            <a:ext cx="3538104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42659" y="1813023"/>
            <a:ext cx="7408080" cy="1628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595959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jpe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yushBL45t/ISL---Project-4th-year-SVIT" TargetMode="External"/><Relationship Id="rId2" Type="http://schemas.openxmlformats.org/officeDocument/2006/relationships/hyperlink" Target="https://piyushbl45t.github.io/Project-Portfolio-Website/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14265" y="832866"/>
            <a:ext cx="1864360" cy="1492250"/>
            <a:chOff x="4414265" y="832866"/>
            <a:chExt cx="1864360" cy="1492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9703" y="906780"/>
              <a:ext cx="1716024" cy="13456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53127" y="871728"/>
              <a:ext cx="1786255" cy="1414780"/>
            </a:xfrm>
            <a:custGeom>
              <a:avLst/>
              <a:gdLst/>
              <a:ahLst/>
              <a:cxnLst/>
              <a:rect l="l" t="t" r="r" b="b"/>
              <a:pathLst>
                <a:path w="1786254" h="1414780">
                  <a:moveTo>
                    <a:pt x="0" y="0"/>
                  </a:moveTo>
                  <a:lnTo>
                    <a:pt x="1786127" y="0"/>
                  </a:lnTo>
                  <a:lnTo>
                    <a:pt x="1786127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9703" y="906780"/>
              <a:ext cx="1716024" cy="13456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53127" y="871728"/>
              <a:ext cx="1786255" cy="1414780"/>
            </a:xfrm>
            <a:custGeom>
              <a:avLst/>
              <a:gdLst/>
              <a:ahLst/>
              <a:cxnLst/>
              <a:rect l="l" t="t" r="r" b="b"/>
              <a:pathLst>
                <a:path w="1786254" h="1414780">
                  <a:moveTo>
                    <a:pt x="0" y="0"/>
                  </a:moveTo>
                  <a:lnTo>
                    <a:pt x="1786127" y="0"/>
                  </a:lnTo>
                  <a:lnTo>
                    <a:pt x="1786127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34138" y="2329685"/>
            <a:ext cx="50222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333333"/>
                </a:solidFill>
              </a:rPr>
              <a:t>Savitribai</a:t>
            </a:r>
            <a:r>
              <a:rPr sz="2800" spc="-10" dirty="0">
                <a:solidFill>
                  <a:srgbClr val="333333"/>
                </a:solidFill>
              </a:rPr>
              <a:t> </a:t>
            </a:r>
            <a:r>
              <a:rPr sz="2800" dirty="0">
                <a:solidFill>
                  <a:srgbClr val="333333"/>
                </a:solidFill>
              </a:rPr>
              <a:t>Phule</a:t>
            </a:r>
            <a:r>
              <a:rPr sz="2800" spc="-50" dirty="0">
                <a:solidFill>
                  <a:srgbClr val="333333"/>
                </a:solidFill>
              </a:rPr>
              <a:t> </a:t>
            </a:r>
            <a:r>
              <a:rPr sz="2800" spc="5" dirty="0">
                <a:solidFill>
                  <a:srgbClr val="333333"/>
                </a:solidFill>
              </a:rPr>
              <a:t>Pune</a:t>
            </a:r>
            <a:r>
              <a:rPr sz="2800" spc="-55" dirty="0">
                <a:solidFill>
                  <a:srgbClr val="333333"/>
                </a:solidFill>
              </a:rPr>
              <a:t> </a:t>
            </a:r>
            <a:r>
              <a:rPr sz="2800" dirty="0">
                <a:solidFill>
                  <a:srgbClr val="333333"/>
                </a:solidFill>
              </a:rPr>
              <a:t>University</a:t>
            </a:r>
            <a:endParaRPr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1620980" y="3198320"/>
            <a:ext cx="7452359" cy="11087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1845"/>
              </a:lnSpc>
              <a:spcBef>
                <a:spcPts val="130"/>
              </a:spcBef>
            </a:pPr>
            <a:r>
              <a:rPr sz="1550" b="1" spc="10" dirty="0">
                <a:solidFill>
                  <a:srgbClr val="333333"/>
                </a:solidFill>
                <a:latin typeface="Times New Roman"/>
                <a:cs typeface="Times New Roman"/>
              </a:rPr>
              <a:t>Affiliated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ts val="3315"/>
              </a:lnSpc>
            </a:pP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Pravara</a:t>
            </a:r>
            <a:r>
              <a:rPr sz="2800" b="1" spc="-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Rural</a:t>
            </a:r>
            <a:r>
              <a:rPr sz="2800" b="1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Education</a:t>
            </a:r>
            <a:r>
              <a:rPr sz="2800" b="1" spc="-3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Societey’s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ts val="3329"/>
              </a:lnSpc>
            </a:pPr>
            <a:r>
              <a:rPr sz="2800" b="1" spc="-5" dirty="0">
                <a:solidFill>
                  <a:srgbClr val="333333"/>
                </a:solidFill>
                <a:latin typeface="Times New Roman"/>
                <a:cs typeface="Times New Roman"/>
              </a:rPr>
              <a:t>Sir</a:t>
            </a:r>
            <a:r>
              <a:rPr sz="2800" b="1" spc="1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Visvesvaraya</a:t>
            </a:r>
            <a:r>
              <a:rPr sz="2800" b="1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Institute</a:t>
            </a:r>
            <a:r>
              <a:rPr sz="2800" b="1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of</a:t>
            </a:r>
            <a:r>
              <a:rPr sz="2800" b="1" spc="-1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Technology,</a:t>
            </a:r>
            <a:r>
              <a:rPr sz="2800" b="1" spc="-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333333"/>
                </a:solidFill>
                <a:latin typeface="Times New Roman"/>
                <a:cs typeface="Times New Roman"/>
              </a:rPr>
              <a:t>Nashik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56938" y="4708397"/>
            <a:ext cx="1780539" cy="1737360"/>
            <a:chOff x="4456938" y="4708397"/>
            <a:chExt cx="1780539" cy="17373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6280" y="4780788"/>
              <a:ext cx="1638300" cy="15910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95800" y="4747259"/>
              <a:ext cx="1702435" cy="1659889"/>
            </a:xfrm>
            <a:custGeom>
              <a:avLst/>
              <a:gdLst/>
              <a:ahLst/>
              <a:cxnLst/>
              <a:rect l="l" t="t" r="r" b="b"/>
              <a:pathLst>
                <a:path w="1702435" h="1659889">
                  <a:moveTo>
                    <a:pt x="0" y="0"/>
                  </a:moveTo>
                  <a:lnTo>
                    <a:pt x="1702307" y="0"/>
                  </a:lnTo>
                  <a:lnTo>
                    <a:pt x="1702307" y="1659636"/>
                  </a:lnTo>
                  <a:lnTo>
                    <a:pt x="0" y="1659636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6280" y="4780788"/>
              <a:ext cx="1638300" cy="15910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95800" y="4747259"/>
              <a:ext cx="1702435" cy="1659889"/>
            </a:xfrm>
            <a:custGeom>
              <a:avLst/>
              <a:gdLst/>
              <a:ahLst/>
              <a:cxnLst/>
              <a:rect l="l" t="t" r="r" b="b"/>
              <a:pathLst>
                <a:path w="1702435" h="1659889">
                  <a:moveTo>
                    <a:pt x="0" y="0"/>
                  </a:moveTo>
                  <a:lnTo>
                    <a:pt x="1702307" y="0"/>
                  </a:lnTo>
                  <a:lnTo>
                    <a:pt x="1702307" y="1659636"/>
                  </a:lnTo>
                  <a:lnTo>
                    <a:pt x="0" y="1659636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6185" y="3050491"/>
            <a:ext cx="7975600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spc="-5" dirty="0"/>
              <a:t>Sir</a:t>
            </a:r>
            <a:r>
              <a:rPr sz="2450" spc="-10" dirty="0"/>
              <a:t> </a:t>
            </a:r>
            <a:r>
              <a:rPr sz="2450" dirty="0"/>
              <a:t>Visvesvaraya</a:t>
            </a:r>
            <a:r>
              <a:rPr sz="2450" spc="-45" dirty="0"/>
              <a:t> </a:t>
            </a:r>
            <a:r>
              <a:rPr sz="2450" dirty="0"/>
              <a:t>Institute</a:t>
            </a:r>
            <a:r>
              <a:rPr sz="2450" spc="-5" dirty="0"/>
              <a:t> </a:t>
            </a:r>
            <a:r>
              <a:rPr sz="2450" spc="10" dirty="0"/>
              <a:t>of</a:t>
            </a:r>
            <a:r>
              <a:rPr sz="2450" dirty="0"/>
              <a:t> Technology</a:t>
            </a:r>
            <a:r>
              <a:rPr sz="2450" spc="-20" dirty="0"/>
              <a:t> </a:t>
            </a:r>
            <a:r>
              <a:rPr sz="2450" dirty="0"/>
              <a:t>,Chincholi,</a:t>
            </a:r>
            <a:r>
              <a:rPr sz="2450" spc="-50" dirty="0"/>
              <a:t> </a:t>
            </a:r>
            <a:r>
              <a:rPr sz="2450" spc="5" dirty="0"/>
              <a:t>Nashik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1893792" y="3713760"/>
            <a:ext cx="6818630" cy="78168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R="157480" algn="ctr">
              <a:lnSpc>
                <a:spcPct val="100000"/>
              </a:lnSpc>
              <a:spcBef>
                <a:spcPts val="975"/>
              </a:spcBef>
            </a:pPr>
            <a:r>
              <a:rPr sz="1750" b="1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175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FF0000"/>
                </a:solidFill>
                <a:latin typeface="Times New Roman"/>
                <a:cs typeface="Times New Roman"/>
              </a:rPr>
              <a:t>Presentation</a:t>
            </a:r>
            <a:r>
              <a:rPr sz="175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b="1" dirty="0">
                <a:solidFill>
                  <a:srgbClr val="FF0000"/>
                </a:solidFill>
                <a:latin typeface="Times New Roman"/>
                <a:cs typeface="Times New Roman"/>
              </a:rPr>
              <a:t>“</a:t>
            </a:r>
            <a:r>
              <a:rPr sz="17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SIGN</a:t>
            </a:r>
            <a:r>
              <a:rPr sz="17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r>
              <a:rPr sz="175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DETECTION</a:t>
            </a:r>
            <a:r>
              <a:rPr sz="175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17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FF0000"/>
                </a:solidFill>
                <a:latin typeface="Times New Roman"/>
                <a:cs typeface="Times New Roman"/>
              </a:rPr>
              <a:t>MACHINE</a:t>
            </a:r>
            <a:r>
              <a:rPr sz="17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LEARNING</a:t>
            </a:r>
            <a:r>
              <a:rPr sz="175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FF0000"/>
                </a:solidFill>
                <a:latin typeface="Times New Roman"/>
                <a:cs typeface="Times New Roman"/>
              </a:rPr>
              <a:t>”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298441" y="896873"/>
            <a:ext cx="1844039" cy="1798320"/>
            <a:chOff x="4298441" y="896873"/>
            <a:chExt cx="1844039" cy="1798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80" y="969264"/>
              <a:ext cx="1694687" cy="13627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37303" y="935735"/>
              <a:ext cx="1766570" cy="1720850"/>
            </a:xfrm>
            <a:custGeom>
              <a:avLst/>
              <a:gdLst/>
              <a:ahLst/>
              <a:cxnLst/>
              <a:rect l="l" t="t" r="r" b="b"/>
              <a:pathLst>
                <a:path w="1766570" h="1720850">
                  <a:moveTo>
                    <a:pt x="0" y="0"/>
                  </a:moveTo>
                  <a:lnTo>
                    <a:pt x="1766316" y="0"/>
                  </a:lnTo>
                  <a:lnTo>
                    <a:pt x="1766316" y="1720596"/>
                  </a:lnTo>
                  <a:lnTo>
                    <a:pt x="0" y="1720596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3880" y="969264"/>
              <a:ext cx="1694687" cy="16535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37303" y="935735"/>
              <a:ext cx="1766570" cy="1720850"/>
            </a:xfrm>
            <a:custGeom>
              <a:avLst/>
              <a:gdLst/>
              <a:ahLst/>
              <a:cxnLst/>
              <a:rect l="l" t="t" r="r" b="b"/>
              <a:pathLst>
                <a:path w="1766570" h="1720850">
                  <a:moveTo>
                    <a:pt x="0" y="0"/>
                  </a:moveTo>
                  <a:lnTo>
                    <a:pt x="1766316" y="0"/>
                  </a:lnTo>
                  <a:lnTo>
                    <a:pt x="1766316" y="1720596"/>
                  </a:lnTo>
                  <a:lnTo>
                    <a:pt x="0" y="1720596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1386" y="5641308"/>
            <a:ext cx="182118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" marR="5080" indent="-45720">
              <a:lnSpc>
                <a:spcPct val="102000"/>
              </a:lnSpc>
              <a:spcBef>
                <a:spcPts val="95"/>
              </a:spcBef>
            </a:pPr>
            <a:r>
              <a:rPr sz="1550" b="1" spc="15" dirty="0">
                <a:latin typeface="Times New Roman"/>
                <a:cs typeface="Times New Roman"/>
              </a:rPr>
              <a:t>Project</a:t>
            </a:r>
            <a:r>
              <a:rPr sz="1550" b="1" spc="32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Coordinator </a:t>
            </a:r>
            <a:r>
              <a:rPr sz="1550" b="1" spc="-375" dirty="0">
                <a:latin typeface="Times New Roman"/>
                <a:cs typeface="Times New Roman"/>
              </a:rPr>
              <a:t> </a:t>
            </a:r>
            <a:r>
              <a:rPr sz="155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Ms.</a:t>
            </a:r>
            <a:r>
              <a:rPr sz="155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b="1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Archana</a:t>
            </a:r>
            <a:r>
              <a:rPr sz="1550" b="1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b="1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Ugale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8949" y="5702306"/>
            <a:ext cx="2127885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">
              <a:lnSpc>
                <a:spcPct val="101899"/>
              </a:lnSpc>
              <a:spcBef>
                <a:spcPts val="95"/>
              </a:spcBef>
            </a:pPr>
            <a:r>
              <a:rPr sz="1550" b="1" spc="15" dirty="0">
                <a:latin typeface="Times New Roman"/>
                <a:cs typeface="Times New Roman"/>
              </a:rPr>
              <a:t>Project</a:t>
            </a:r>
            <a:r>
              <a:rPr sz="1550" b="1" spc="-55" dirty="0">
                <a:latin typeface="Times New Roman"/>
                <a:cs typeface="Times New Roman"/>
              </a:rPr>
              <a:t> </a:t>
            </a:r>
            <a:r>
              <a:rPr sz="1550" b="1" spc="15" dirty="0">
                <a:latin typeface="Times New Roman"/>
                <a:cs typeface="Times New Roman"/>
              </a:rPr>
              <a:t>Guide</a:t>
            </a:r>
            <a:r>
              <a:rPr sz="1550" b="1" spc="-40" dirty="0">
                <a:latin typeface="Times New Roman"/>
                <a:cs typeface="Times New Roman"/>
              </a:rPr>
              <a:t> </a:t>
            </a:r>
            <a:r>
              <a:rPr sz="1550" b="1" spc="20" dirty="0">
                <a:latin typeface="Times New Roman"/>
                <a:cs typeface="Times New Roman"/>
              </a:rPr>
              <a:t>(HOD</a:t>
            </a:r>
            <a:r>
              <a:rPr sz="1550" b="1" spc="-4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Times New Roman"/>
                <a:cs typeface="Times New Roman"/>
              </a:rPr>
              <a:t>IT) </a:t>
            </a:r>
            <a:r>
              <a:rPr sz="1550" b="1" spc="-370" dirty="0">
                <a:latin typeface="Times New Roman"/>
                <a:cs typeface="Times New Roman"/>
              </a:rPr>
              <a:t> </a:t>
            </a:r>
            <a:r>
              <a:rPr sz="1550" b="1" u="sng" spc="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Mr.</a:t>
            </a:r>
            <a:r>
              <a:rPr sz="155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Rushikesh</a:t>
            </a:r>
            <a:r>
              <a:rPr sz="155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Bhalerao</a:t>
            </a:r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8121" y="994674"/>
            <a:ext cx="197358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/>
              <a:t>Student</a:t>
            </a:r>
            <a:r>
              <a:rPr sz="2400" spc="-50" dirty="0"/>
              <a:t> </a:t>
            </a:r>
            <a:r>
              <a:rPr sz="2400" dirty="0"/>
              <a:t>details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29944" indent="-367665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830580" algn="l"/>
              </a:tabLst>
            </a:pPr>
            <a:r>
              <a:rPr spc="15" dirty="0"/>
              <a:t>Piyush</a:t>
            </a:r>
            <a:r>
              <a:rPr spc="-30" dirty="0"/>
              <a:t> </a:t>
            </a:r>
            <a:r>
              <a:rPr spc="10" dirty="0"/>
              <a:t>Tanaji</a:t>
            </a:r>
            <a:r>
              <a:rPr spc="25" dirty="0"/>
              <a:t> </a:t>
            </a:r>
            <a:r>
              <a:rPr spc="10" dirty="0"/>
              <a:t>Bhujbal,</a:t>
            </a:r>
            <a:r>
              <a:rPr dirty="0"/>
              <a:t> </a:t>
            </a:r>
            <a:r>
              <a:rPr spc="10" dirty="0"/>
              <a:t>Roll</a:t>
            </a:r>
            <a:r>
              <a:rPr dirty="0"/>
              <a:t> </a:t>
            </a:r>
            <a:r>
              <a:rPr spc="10" dirty="0"/>
              <a:t>no:</a:t>
            </a:r>
            <a:r>
              <a:rPr dirty="0"/>
              <a:t> </a:t>
            </a:r>
            <a:r>
              <a:rPr spc="15" dirty="0"/>
              <a:t>(190278508).</a:t>
            </a:r>
          </a:p>
          <a:p>
            <a:pPr marL="817880" indent="-367665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818515" algn="l"/>
              </a:tabLst>
            </a:pPr>
            <a:r>
              <a:rPr spc="10" dirty="0"/>
              <a:t>Krushna</a:t>
            </a:r>
            <a:r>
              <a:rPr spc="-5" dirty="0"/>
              <a:t> </a:t>
            </a:r>
            <a:r>
              <a:rPr spc="15" dirty="0"/>
              <a:t>Vikas</a:t>
            </a:r>
            <a:r>
              <a:rPr spc="-15" dirty="0"/>
              <a:t> </a:t>
            </a:r>
            <a:r>
              <a:rPr spc="10" dirty="0"/>
              <a:t>Chavan,</a:t>
            </a:r>
            <a:r>
              <a:rPr spc="30" dirty="0"/>
              <a:t> </a:t>
            </a:r>
            <a:r>
              <a:rPr spc="5" dirty="0"/>
              <a:t>Roll</a:t>
            </a:r>
            <a:r>
              <a:rPr spc="15" dirty="0"/>
              <a:t> </a:t>
            </a:r>
            <a:r>
              <a:rPr spc="20" dirty="0"/>
              <a:t>no:</a:t>
            </a:r>
            <a:r>
              <a:rPr spc="-15" dirty="0"/>
              <a:t> </a:t>
            </a:r>
            <a:r>
              <a:rPr spc="15" dirty="0"/>
              <a:t>(190278511)</a:t>
            </a:r>
          </a:p>
          <a:p>
            <a:pPr marL="1099820" indent="-36766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100455" algn="l"/>
              </a:tabLst>
            </a:pPr>
            <a:r>
              <a:rPr spc="15" dirty="0"/>
              <a:t>Rutik</a:t>
            </a:r>
            <a:r>
              <a:rPr dirty="0"/>
              <a:t> </a:t>
            </a:r>
            <a:r>
              <a:rPr spc="10" dirty="0"/>
              <a:t>Sunil</a:t>
            </a:r>
            <a:r>
              <a:rPr spc="-15" dirty="0"/>
              <a:t> </a:t>
            </a:r>
            <a:r>
              <a:rPr spc="10" dirty="0"/>
              <a:t>Malave.Roll </a:t>
            </a:r>
            <a:r>
              <a:rPr spc="20" dirty="0"/>
              <a:t>no:</a:t>
            </a:r>
            <a:r>
              <a:rPr spc="-15" dirty="0"/>
              <a:t> </a:t>
            </a:r>
            <a:r>
              <a:rPr spc="15" dirty="0"/>
              <a:t>(190278544)</a:t>
            </a:r>
          </a:p>
          <a:p>
            <a:pPr marL="408305" indent="-36766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408940" algn="l"/>
              </a:tabLst>
            </a:pPr>
            <a:r>
              <a:rPr spc="10" dirty="0"/>
              <a:t>Shreyas Ganesh Waghchaure,</a:t>
            </a:r>
            <a:r>
              <a:rPr spc="35" dirty="0"/>
              <a:t> </a:t>
            </a:r>
            <a:r>
              <a:rPr spc="10" dirty="0"/>
              <a:t>Roll</a:t>
            </a:r>
            <a:r>
              <a:rPr spc="-10" dirty="0"/>
              <a:t> </a:t>
            </a:r>
            <a:r>
              <a:rPr spc="20" dirty="0"/>
              <a:t>no:</a:t>
            </a:r>
            <a:r>
              <a:rPr spc="-10" dirty="0"/>
              <a:t> </a:t>
            </a:r>
            <a:r>
              <a:rPr spc="15" dirty="0"/>
              <a:t>(190278579)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6185" y="34487"/>
            <a:ext cx="3161030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Table</a:t>
            </a:r>
            <a:r>
              <a:rPr spc="-25" dirty="0"/>
              <a:t> </a:t>
            </a:r>
            <a:r>
              <a:rPr spc="-5" dirty="0"/>
              <a:t>of</a:t>
            </a:r>
            <a:r>
              <a:rPr spc="-50" dirty="0"/>
              <a:t> </a:t>
            </a:r>
            <a:r>
              <a:rPr spc="-5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8100" y="1190625"/>
            <a:ext cx="8803615" cy="551433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12090" indent="-200025">
              <a:lnSpc>
                <a:spcPct val="100000"/>
              </a:lnSpc>
              <a:spcBef>
                <a:spcPts val="1300"/>
              </a:spcBef>
              <a:buFont typeface="Times New Roman"/>
              <a:buChar char="●"/>
              <a:tabLst>
                <a:tab pos="212725" algn="l"/>
              </a:tabLst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Abstract</a:t>
            </a:r>
            <a:endParaRPr sz="1750" dirty="0">
              <a:latin typeface="Times New Roman"/>
              <a:cs typeface="Times New Roman"/>
            </a:endParaRPr>
          </a:p>
          <a:p>
            <a:pPr marL="212090" indent="-200025">
              <a:lnSpc>
                <a:spcPct val="100000"/>
              </a:lnSpc>
              <a:spcBef>
                <a:spcPts val="1195"/>
              </a:spcBef>
              <a:buFont typeface="Times New Roman"/>
              <a:buChar char="●"/>
              <a:tabLst>
                <a:tab pos="212725" algn="l"/>
              </a:tabLst>
            </a:pP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Introduction</a:t>
            </a:r>
            <a:endParaRPr sz="1750" dirty="0">
              <a:latin typeface="Times New Roman"/>
              <a:cs typeface="Times New Roman"/>
            </a:endParaRPr>
          </a:p>
          <a:p>
            <a:pPr marL="212090" indent="-200025">
              <a:lnSpc>
                <a:spcPct val="100000"/>
              </a:lnSpc>
              <a:spcBef>
                <a:spcPts val="1205"/>
              </a:spcBef>
              <a:buFont typeface="Times New Roman"/>
              <a:buChar char="●"/>
              <a:tabLst>
                <a:tab pos="212725" algn="l"/>
              </a:tabLst>
            </a:pP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Literature</a:t>
            </a:r>
            <a:r>
              <a:rPr sz="1750" b="1" spc="-7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Survey</a:t>
            </a:r>
            <a:endParaRPr sz="1750" dirty="0">
              <a:latin typeface="Times New Roman"/>
              <a:cs typeface="Times New Roman"/>
            </a:endParaRPr>
          </a:p>
          <a:p>
            <a:pPr marL="212090" indent="-200025">
              <a:lnSpc>
                <a:spcPct val="100000"/>
              </a:lnSpc>
              <a:spcBef>
                <a:spcPts val="1185"/>
              </a:spcBef>
              <a:buFont typeface="Times New Roman"/>
              <a:buChar char="●"/>
              <a:tabLst>
                <a:tab pos="212725" algn="l"/>
              </a:tabLst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Aim</a:t>
            </a:r>
            <a:endParaRPr sz="1750" dirty="0">
              <a:latin typeface="Times New Roman"/>
              <a:cs typeface="Times New Roman"/>
            </a:endParaRPr>
          </a:p>
          <a:p>
            <a:pPr marL="212090" indent="-200025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212725" algn="l"/>
              </a:tabLst>
            </a:pP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Objective</a:t>
            </a:r>
            <a:endParaRPr sz="1750" dirty="0">
              <a:latin typeface="Times New Roman"/>
              <a:cs typeface="Times New Roman"/>
            </a:endParaRPr>
          </a:p>
          <a:p>
            <a:pPr marL="212090" indent="-200025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212725" algn="l"/>
              </a:tabLst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Propose</a:t>
            </a:r>
            <a:r>
              <a:rPr sz="175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System</a:t>
            </a:r>
            <a:endParaRPr sz="1750" dirty="0">
              <a:latin typeface="Times New Roman"/>
              <a:cs typeface="Times New Roman"/>
            </a:endParaRPr>
          </a:p>
          <a:p>
            <a:pPr marL="212090" indent="-200025">
              <a:lnSpc>
                <a:spcPct val="100000"/>
              </a:lnSpc>
              <a:spcBef>
                <a:spcPts val="1190"/>
              </a:spcBef>
              <a:buFont typeface="Times New Roman"/>
              <a:buChar char="●"/>
              <a:tabLst>
                <a:tab pos="212725" algn="l"/>
              </a:tabLst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Propose</a:t>
            </a:r>
            <a:r>
              <a:rPr sz="175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Model</a:t>
            </a:r>
            <a:endParaRPr lang="en-US" sz="1750" b="1" spc="-5" dirty="0">
              <a:solidFill>
                <a:srgbClr val="595959"/>
              </a:solidFill>
              <a:latin typeface="Times New Roman"/>
              <a:cs typeface="Times New Roman"/>
            </a:endParaRPr>
          </a:p>
          <a:p>
            <a:pPr marL="212090" indent="-200025">
              <a:lnSpc>
                <a:spcPct val="100000"/>
              </a:lnSpc>
              <a:spcBef>
                <a:spcPts val="1190"/>
              </a:spcBef>
              <a:buFont typeface="Times New Roman"/>
              <a:buChar char="●"/>
              <a:tabLst>
                <a:tab pos="212725" algn="l"/>
              </a:tabLst>
            </a:pPr>
            <a:r>
              <a:rPr lang="en-US"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Architecture of the CNN algorithm</a:t>
            </a:r>
          </a:p>
          <a:p>
            <a:pPr marL="212090" indent="-200025">
              <a:lnSpc>
                <a:spcPct val="100000"/>
              </a:lnSpc>
              <a:spcBef>
                <a:spcPts val="1190"/>
              </a:spcBef>
              <a:buFont typeface="Times New Roman"/>
              <a:buChar char="●"/>
              <a:tabLst>
                <a:tab pos="212725" algn="l"/>
              </a:tabLst>
            </a:pPr>
            <a:r>
              <a:rPr lang="en-US"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UML Diagram</a:t>
            </a:r>
          </a:p>
          <a:p>
            <a:pPr marL="212090" indent="-200025">
              <a:lnSpc>
                <a:spcPct val="100000"/>
              </a:lnSpc>
              <a:spcBef>
                <a:spcPts val="1190"/>
              </a:spcBef>
              <a:buFont typeface="Times New Roman"/>
              <a:buChar char="●"/>
              <a:tabLst>
                <a:tab pos="212725" algn="l"/>
              </a:tabLst>
            </a:pPr>
            <a:r>
              <a:rPr lang="en-US"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Implementation</a:t>
            </a:r>
          </a:p>
          <a:p>
            <a:pPr marL="212090" indent="-200025">
              <a:lnSpc>
                <a:spcPct val="100000"/>
              </a:lnSpc>
              <a:spcBef>
                <a:spcPts val="1190"/>
              </a:spcBef>
              <a:buFont typeface="Times New Roman"/>
              <a:buChar char="●"/>
              <a:tabLst>
                <a:tab pos="212725" algn="l"/>
              </a:tabLst>
            </a:pPr>
            <a:r>
              <a:rPr lang="en-US"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Models Accuracy and loss Comparison</a:t>
            </a:r>
          </a:p>
          <a:p>
            <a:pPr marL="212090" indent="-200025">
              <a:lnSpc>
                <a:spcPct val="100000"/>
              </a:lnSpc>
              <a:spcBef>
                <a:spcPts val="1190"/>
              </a:spcBef>
              <a:buFont typeface="Times New Roman"/>
              <a:buChar char="●"/>
              <a:tabLst>
                <a:tab pos="212725" algn="l"/>
              </a:tabLst>
            </a:pPr>
            <a:r>
              <a:rPr lang="en-US"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Conclusion</a:t>
            </a:r>
          </a:p>
          <a:p>
            <a:pPr marL="212090" indent="-200025">
              <a:lnSpc>
                <a:spcPct val="100000"/>
              </a:lnSpc>
              <a:spcBef>
                <a:spcPts val="1190"/>
              </a:spcBef>
              <a:buFont typeface="Times New Roman"/>
              <a:buChar char="●"/>
              <a:tabLst>
                <a:tab pos="212725" algn="l"/>
              </a:tabLst>
            </a:pP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7871" y="628336"/>
            <a:ext cx="1557655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237" y="1647825"/>
            <a:ext cx="9940925" cy="527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199"/>
              </a:lnSpc>
              <a:spcBef>
                <a:spcPts val="100"/>
              </a:spcBef>
            </a:pP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 dumb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and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deaf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people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have the most common problem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of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communication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with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 normal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people.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 physically challenged people </a:t>
            </a:r>
            <a:r>
              <a:rPr sz="2200" b="1" spc="10" dirty="0">
                <a:solidFill>
                  <a:srgbClr val="262626"/>
                </a:solidFill>
                <a:latin typeface="Times New Roman"/>
                <a:cs typeface="Times New Roman"/>
              </a:rPr>
              <a:t>who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are disabled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to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talk and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hear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need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to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find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 way of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communication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medium through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which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they can express their thoughts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and solve their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problems. Thus,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to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work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upon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it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some</a:t>
            </a:r>
            <a:r>
              <a:rPr sz="2200" b="1" spc="-3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experts</a:t>
            </a:r>
            <a:r>
              <a:rPr sz="2200" b="1" spc="-2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designed</a:t>
            </a:r>
            <a:r>
              <a:rPr sz="2200" b="1" spc="-1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</a:t>
            </a:r>
            <a:r>
              <a:rPr sz="2200" b="1" spc="-2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Sign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Language.</a:t>
            </a:r>
            <a:endParaRPr sz="22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15199"/>
              </a:lnSpc>
              <a:spcBef>
                <a:spcPts val="885"/>
              </a:spcBef>
            </a:pP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In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above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review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we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team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of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four students under the guidance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of our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project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guide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are just giving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rough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improvement and adding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some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automation techniques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with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Machine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Learning and Computer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Vision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through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which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15" dirty="0">
                <a:solidFill>
                  <a:srgbClr val="262626"/>
                </a:solidFill>
                <a:latin typeface="Times New Roman"/>
                <a:cs typeface="Times New Roman"/>
              </a:rPr>
              <a:t>we</a:t>
            </a:r>
            <a:r>
              <a:rPr sz="2200" b="1" spc="2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are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attempting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to</a:t>
            </a:r>
            <a:r>
              <a:rPr sz="2200" b="1" spc="1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create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Indian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Sign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Language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Detection</a:t>
            </a:r>
            <a:r>
              <a:rPr sz="2200" b="1" spc="42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algorithm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through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Deep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Neural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Networks.</a:t>
            </a:r>
            <a:endParaRPr sz="2200" dirty="0">
              <a:latin typeface="Times New Roman"/>
              <a:cs typeface="Times New Roman"/>
            </a:endParaRPr>
          </a:p>
          <a:p>
            <a:pPr marL="12700" marR="8890" algn="just">
              <a:lnSpc>
                <a:spcPct val="115399"/>
              </a:lnSpc>
              <a:spcBef>
                <a:spcPts val="865"/>
              </a:spcBef>
            </a:pP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main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aim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of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this project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is 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to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create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simple, easy and ready to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use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application that predicts the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symbol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shown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by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user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in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front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of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 camera and then 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the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ML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model in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 backend predicts the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output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and</a:t>
            </a:r>
            <a:r>
              <a:rPr sz="2200" b="1" spc="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shows</a:t>
            </a:r>
            <a:r>
              <a:rPr sz="2200" b="1" spc="-3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it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live</a:t>
            </a:r>
            <a:r>
              <a:rPr sz="2200" b="1" spc="-1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62626"/>
                </a:solidFill>
                <a:latin typeface="Times New Roman"/>
                <a:cs typeface="Times New Roman"/>
              </a:rPr>
              <a:t>on</a:t>
            </a:r>
            <a:r>
              <a:rPr sz="2200" b="1" spc="-15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the</a:t>
            </a:r>
            <a:r>
              <a:rPr sz="2200" b="1" spc="1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262626"/>
                </a:solidFill>
                <a:latin typeface="Times New Roman"/>
                <a:cs typeface="Times New Roman"/>
              </a:rPr>
              <a:t>screen.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0396" y="1011379"/>
            <a:ext cx="2266950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9761" y="2459460"/>
            <a:ext cx="10103485" cy="3014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105"/>
              </a:spcBef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Communication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is very important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to human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beings, as it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enables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us 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to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express ourselves. We communicate </a:t>
            </a:r>
            <a:r>
              <a:rPr sz="1750" b="1" spc="-4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through</a:t>
            </a:r>
            <a:r>
              <a:rPr sz="175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speech,</a:t>
            </a:r>
            <a:r>
              <a:rPr sz="175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gestures,</a:t>
            </a:r>
            <a:r>
              <a:rPr sz="175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body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language,</a:t>
            </a:r>
            <a:r>
              <a:rPr sz="175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reading,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writing.</a:t>
            </a:r>
            <a:r>
              <a:rPr sz="175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However,</a:t>
            </a:r>
            <a:r>
              <a:rPr sz="175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for the</a:t>
            </a:r>
            <a:r>
              <a:rPr sz="175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speaking</a:t>
            </a:r>
            <a:r>
              <a:rPr sz="175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75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hearing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 impaired</a:t>
            </a:r>
            <a:r>
              <a:rPr sz="175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minority,</a:t>
            </a:r>
            <a:r>
              <a:rPr sz="1750" b="1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there</a:t>
            </a:r>
            <a:r>
              <a:rPr sz="175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175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5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communication</a:t>
            </a:r>
            <a:r>
              <a:rPr sz="1750" b="1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gap.</a:t>
            </a:r>
            <a:endParaRPr sz="1750">
              <a:latin typeface="Times New Roman"/>
              <a:cs typeface="Times New Roman"/>
            </a:endParaRPr>
          </a:p>
          <a:p>
            <a:pPr marL="12700" marR="445134" algn="just">
              <a:lnSpc>
                <a:spcPct val="115100"/>
              </a:lnSpc>
              <a:spcBef>
                <a:spcPts val="885"/>
              </a:spcBef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This can </a:t>
            </a:r>
            <a:r>
              <a:rPr sz="175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be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very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helpful for the deaf and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dumb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people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in communicating 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with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others as knowing sign 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language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is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not something that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is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common to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all,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moreover,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this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can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be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extended to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creating automatic </a:t>
            </a:r>
            <a:r>
              <a:rPr sz="1750" b="1" spc="-4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editors,</a:t>
            </a:r>
            <a:r>
              <a:rPr sz="175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where</a:t>
            </a:r>
            <a:r>
              <a:rPr sz="175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75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person</a:t>
            </a:r>
            <a:r>
              <a:rPr sz="175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can</a:t>
            </a:r>
            <a:r>
              <a:rPr sz="175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easily</a:t>
            </a:r>
            <a:r>
              <a:rPr sz="1750" b="1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write</a:t>
            </a:r>
            <a:r>
              <a:rPr sz="1750" b="1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by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just their hand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gestures.</a:t>
            </a:r>
            <a:endParaRPr sz="1750">
              <a:latin typeface="Times New Roman"/>
              <a:cs typeface="Times New Roman"/>
            </a:endParaRPr>
          </a:p>
          <a:p>
            <a:pPr marL="12700" marR="78105" algn="just">
              <a:lnSpc>
                <a:spcPct val="115100"/>
              </a:lnSpc>
              <a:spcBef>
                <a:spcPts val="880"/>
              </a:spcBef>
            </a:pP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Sign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Language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is a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form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of communication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used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primarily by people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hard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of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hearing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or </a:t>
            </a:r>
            <a:r>
              <a:rPr sz="175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deaf.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This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type of </a:t>
            </a:r>
            <a:r>
              <a:rPr sz="1750" b="1" spc="-4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gesture-based language 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allows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people 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to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convey ideas and thoughts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easily overcoming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the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barriers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caused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by</a:t>
            </a:r>
            <a:r>
              <a:rPr sz="175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difficulties</a:t>
            </a:r>
            <a:r>
              <a:rPr sz="1750" b="1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from</a:t>
            </a:r>
            <a:r>
              <a:rPr sz="175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hearing</a:t>
            </a:r>
            <a:r>
              <a:rPr sz="175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issues.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85825"/>
            <a:ext cx="3194050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Literature</a:t>
            </a:r>
            <a:r>
              <a:rPr spc="-25" dirty="0"/>
              <a:t> </a:t>
            </a:r>
            <a:r>
              <a:rPr spc="-10" dirty="0"/>
              <a:t>Survey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3300" y="1571625"/>
            <a:ext cx="8077200" cy="4724400"/>
            <a:chOff x="2666238" y="2608326"/>
            <a:chExt cx="6057900" cy="34474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0151" y="2680715"/>
              <a:ext cx="5910071" cy="33009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05100" y="2647188"/>
              <a:ext cx="5980430" cy="3369945"/>
            </a:xfrm>
            <a:custGeom>
              <a:avLst/>
              <a:gdLst/>
              <a:ahLst/>
              <a:cxnLst/>
              <a:rect l="l" t="t" r="r" b="b"/>
              <a:pathLst>
                <a:path w="5980430" h="3369945">
                  <a:moveTo>
                    <a:pt x="0" y="0"/>
                  </a:moveTo>
                  <a:lnTo>
                    <a:pt x="5980176" y="0"/>
                  </a:lnTo>
                  <a:lnTo>
                    <a:pt x="5980176" y="3369563"/>
                  </a:lnTo>
                  <a:lnTo>
                    <a:pt x="0" y="3369563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0151" y="2680715"/>
              <a:ext cx="5910071" cy="330098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05100" y="2647188"/>
              <a:ext cx="5980430" cy="3369945"/>
            </a:xfrm>
            <a:custGeom>
              <a:avLst/>
              <a:gdLst/>
              <a:ahLst/>
              <a:cxnLst/>
              <a:rect l="l" t="t" r="r" b="b"/>
              <a:pathLst>
                <a:path w="5980430" h="3369945">
                  <a:moveTo>
                    <a:pt x="0" y="0"/>
                  </a:moveTo>
                  <a:lnTo>
                    <a:pt x="5980176" y="0"/>
                  </a:lnTo>
                  <a:lnTo>
                    <a:pt x="5980176" y="3369563"/>
                  </a:lnTo>
                  <a:lnTo>
                    <a:pt x="0" y="3369563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5601" y="1268956"/>
            <a:ext cx="779780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0" dirty="0"/>
              <a:t>A</a:t>
            </a:r>
            <a:r>
              <a:rPr dirty="0"/>
              <a:t>i</a:t>
            </a:r>
            <a:r>
              <a:rPr spc="-10" dirty="0"/>
              <a:t>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63" y="2177729"/>
            <a:ext cx="10466705" cy="1378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indent="-250190">
              <a:lnSpc>
                <a:spcPts val="2935"/>
              </a:lnSpc>
              <a:buSzPct val="147368"/>
              <a:buChar char="●"/>
              <a:tabLst>
                <a:tab pos="262890" algn="l"/>
              </a:tabLst>
            </a:pP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purpose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project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is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9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provide</a:t>
            </a:r>
            <a:r>
              <a:rPr sz="19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19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efficient </a:t>
            </a:r>
            <a:r>
              <a:rPr sz="19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9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accurate</a:t>
            </a:r>
            <a:r>
              <a:rPr sz="19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way</a:t>
            </a:r>
            <a:r>
              <a:rPr sz="19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convert</a:t>
            </a:r>
            <a:r>
              <a:rPr sz="19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sign</a:t>
            </a:r>
            <a:r>
              <a:rPr sz="19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r>
              <a:rPr sz="19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into</a:t>
            </a:r>
            <a:endParaRPr sz="1900">
              <a:latin typeface="Times New Roman"/>
              <a:cs typeface="Times New Roman"/>
            </a:endParaRPr>
          </a:p>
          <a:p>
            <a:pPr marL="262255">
              <a:lnSpc>
                <a:spcPct val="100000"/>
              </a:lnSpc>
              <a:spcBef>
                <a:spcPts val="200"/>
              </a:spcBef>
            </a:pP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Graphical</a:t>
            </a:r>
            <a:r>
              <a:rPr sz="19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context</a:t>
            </a:r>
            <a:endParaRPr sz="1900">
              <a:latin typeface="Times New Roman"/>
              <a:cs typeface="Times New Roman"/>
            </a:endParaRPr>
          </a:p>
          <a:p>
            <a:pPr marL="262255">
              <a:lnSpc>
                <a:spcPct val="100000"/>
              </a:lnSpc>
              <a:spcBef>
                <a:spcPts val="385"/>
              </a:spcBef>
            </a:pP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Using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Machine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learning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flutter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look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forward to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create</a:t>
            </a:r>
            <a:endParaRPr sz="1900">
              <a:latin typeface="Times New Roman"/>
              <a:cs typeface="Times New Roman"/>
            </a:endParaRPr>
          </a:p>
          <a:p>
            <a:pPr marL="262255">
              <a:lnSpc>
                <a:spcPct val="100000"/>
              </a:lnSpc>
              <a:spcBef>
                <a:spcPts val="385"/>
              </a:spcBef>
            </a:pP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Application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help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 both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deaf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non-deaf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people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to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communicate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with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each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other.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7986" y="3998976"/>
            <a:ext cx="5624103" cy="25967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4649" y="1208077"/>
            <a:ext cx="1718310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O</a:t>
            </a:r>
            <a:r>
              <a:rPr spc="-30" dirty="0"/>
              <a:t>b</a:t>
            </a:r>
            <a:r>
              <a:rPr spc="15" dirty="0"/>
              <a:t>j</a:t>
            </a:r>
            <a:r>
              <a:rPr spc="-20" dirty="0"/>
              <a:t>e</a:t>
            </a:r>
            <a:r>
              <a:rPr spc="10" dirty="0"/>
              <a:t>c</a:t>
            </a:r>
            <a:r>
              <a:rPr spc="-15" dirty="0"/>
              <a:t>t</a:t>
            </a:r>
            <a:r>
              <a:rPr dirty="0"/>
              <a:t>i</a:t>
            </a:r>
            <a:r>
              <a:rPr spc="-5" dirty="0"/>
              <a:t>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05" y="3166669"/>
            <a:ext cx="10427335" cy="2165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885" marR="5080" indent="-210820">
              <a:lnSpc>
                <a:spcPct val="116799"/>
              </a:lnSpc>
              <a:spcBef>
                <a:spcPts val="95"/>
              </a:spcBef>
              <a:buChar char="●"/>
              <a:tabLst>
                <a:tab pos="223520" algn="l"/>
              </a:tabLst>
            </a:pP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purpose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spc="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project</a:t>
            </a:r>
            <a:r>
              <a:rPr sz="1900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is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9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provide</a:t>
            </a:r>
            <a:r>
              <a:rPr sz="19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efficient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19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accurate </a:t>
            </a:r>
            <a:r>
              <a:rPr sz="19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way</a:t>
            </a:r>
            <a:r>
              <a:rPr sz="19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convert sign</a:t>
            </a:r>
            <a:r>
              <a:rPr sz="19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language</a:t>
            </a:r>
            <a:r>
              <a:rPr sz="19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into </a:t>
            </a:r>
            <a:r>
              <a:rPr sz="1900" b="1" spc="-45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Graphical</a:t>
            </a:r>
            <a:r>
              <a:rPr sz="19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context</a:t>
            </a:r>
            <a:endParaRPr sz="190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  <a:spcBef>
                <a:spcPts val="380"/>
              </a:spcBef>
            </a:pP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Using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Machine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learning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flutter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we</a:t>
            </a:r>
            <a:r>
              <a:rPr sz="190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look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forward to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 create</a:t>
            </a:r>
            <a:endParaRPr sz="190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  <a:spcBef>
                <a:spcPts val="385"/>
              </a:spcBef>
            </a:pP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Application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that</a:t>
            </a:r>
            <a:r>
              <a:rPr sz="1900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help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both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deaf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90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non-deaf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people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to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communicate</a:t>
            </a:r>
            <a:r>
              <a:rPr sz="1900" spc="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with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each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 other.</a:t>
            </a:r>
            <a:endParaRPr sz="1900">
              <a:latin typeface="Times New Roman"/>
              <a:cs typeface="Times New Roman"/>
            </a:endParaRPr>
          </a:p>
          <a:p>
            <a:pPr marL="222885" marR="501650" indent="-210820">
              <a:lnSpc>
                <a:spcPct val="116300"/>
              </a:lnSpc>
              <a:spcBef>
                <a:spcPts val="890"/>
              </a:spcBef>
              <a:buChar char="●"/>
              <a:tabLst>
                <a:tab pos="223520" algn="l"/>
              </a:tabLst>
            </a:pP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The Main objective of the project is to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give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an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interface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where deaf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and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non-deaf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people </a:t>
            </a:r>
            <a:r>
              <a:rPr sz="1900" spc="5" dirty="0">
                <a:solidFill>
                  <a:srgbClr val="595959"/>
                </a:solidFill>
                <a:latin typeface="Times New Roman"/>
                <a:cs typeface="Times New Roman"/>
              </a:rPr>
              <a:t>can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easily </a:t>
            </a:r>
            <a:r>
              <a:rPr sz="1900" spc="-4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understand</a:t>
            </a:r>
            <a:r>
              <a:rPr sz="1900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sign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language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5" dirty="0">
                <a:solidFill>
                  <a:srgbClr val="595959"/>
                </a:solidFill>
                <a:latin typeface="Times New Roman"/>
                <a:cs typeface="Times New Roman"/>
              </a:rPr>
              <a:t>through</a:t>
            </a:r>
            <a:r>
              <a:rPr sz="190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900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graphical</a:t>
            </a:r>
            <a:r>
              <a:rPr sz="190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spc="10" dirty="0">
                <a:solidFill>
                  <a:srgbClr val="595959"/>
                </a:solidFill>
                <a:latin typeface="Times New Roman"/>
                <a:cs typeface="Times New Roman"/>
              </a:rPr>
              <a:t>context.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6241" y="1020621"/>
            <a:ext cx="3034665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Proposed</a:t>
            </a:r>
            <a:r>
              <a:rPr spc="-2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2292095"/>
            <a:ext cx="10692765" cy="4495800"/>
          </a:xfrm>
          <a:custGeom>
            <a:avLst/>
            <a:gdLst/>
            <a:ahLst/>
            <a:cxnLst/>
            <a:rect l="l" t="t" r="r" b="b"/>
            <a:pathLst>
              <a:path w="10692765" h="4495800">
                <a:moveTo>
                  <a:pt x="0" y="0"/>
                </a:moveTo>
                <a:lnTo>
                  <a:pt x="10692384" y="0"/>
                </a:lnTo>
                <a:lnTo>
                  <a:pt x="10692384" y="4495800"/>
                </a:lnTo>
                <a:lnTo>
                  <a:pt x="0" y="4495800"/>
                </a:lnTo>
                <a:lnTo>
                  <a:pt x="0" y="0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049" y="2800900"/>
            <a:ext cx="10532110" cy="2953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4295">
              <a:lnSpc>
                <a:spcPct val="116799"/>
              </a:lnSpc>
              <a:spcBef>
                <a:spcPts val="95"/>
              </a:spcBef>
            </a:pP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b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goal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this project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25" dirty="0">
                <a:solidFill>
                  <a:srgbClr val="595959"/>
                </a:solidFill>
                <a:latin typeface="Times New Roman"/>
                <a:cs typeface="Times New Roman"/>
              </a:rPr>
              <a:t>was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900" b="1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build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900" b="1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neural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network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able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classify</a:t>
            </a:r>
            <a:r>
              <a:rPr sz="1900" b="1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which</a:t>
            </a:r>
            <a:r>
              <a:rPr sz="19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letter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Indian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Sign </a:t>
            </a:r>
            <a:r>
              <a:rPr sz="1900" b="1" spc="-4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Language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(ISL)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alphabet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is</a:t>
            </a:r>
            <a:r>
              <a:rPr sz="190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being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signed,</a:t>
            </a:r>
            <a:r>
              <a:rPr sz="1900" b="1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given</a:t>
            </a:r>
            <a:r>
              <a:rPr sz="19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an</a:t>
            </a:r>
            <a:r>
              <a:rPr sz="1900" b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image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signing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hand.</a:t>
            </a:r>
            <a:endParaRPr sz="1900">
              <a:latin typeface="Times New Roman"/>
              <a:cs typeface="Times New Roman"/>
            </a:endParaRPr>
          </a:p>
          <a:p>
            <a:pPr marL="12700" marR="285750">
              <a:lnSpc>
                <a:spcPct val="116700"/>
              </a:lnSpc>
              <a:spcBef>
                <a:spcPts val="875"/>
              </a:spcBef>
            </a:pP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This project </a:t>
            </a:r>
            <a:r>
              <a:rPr sz="1900" b="1" dirty="0">
                <a:solidFill>
                  <a:srgbClr val="595959"/>
                </a:solidFill>
                <a:latin typeface="Times New Roman"/>
                <a:cs typeface="Times New Roman"/>
              </a:rPr>
              <a:t>is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first step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towards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building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possible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sign language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translator,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which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can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take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communications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in sign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language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and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translate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them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into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written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and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oral language.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Such a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translator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would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greatly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lower</a:t>
            </a:r>
            <a:r>
              <a:rPr sz="1900" b="1" spc="-3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barrier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many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deaf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mute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individuals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9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be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able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to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better </a:t>
            </a:r>
            <a:r>
              <a:rPr sz="1900" b="1" spc="-4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communicate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19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others</a:t>
            </a:r>
            <a:r>
              <a:rPr sz="1900" b="1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in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 day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day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interactions</a:t>
            </a: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116799"/>
              </a:lnSpc>
              <a:spcBef>
                <a:spcPts val="880"/>
              </a:spcBef>
            </a:pP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The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objective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this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project </a:t>
            </a:r>
            <a:r>
              <a:rPr sz="1900" b="1" spc="25" dirty="0">
                <a:solidFill>
                  <a:srgbClr val="595959"/>
                </a:solidFill>
                <a:latin typeface="Times New Roman"/>
                <a:cs typeface="Times New Roman"/>
              </a:rPr>
              <a:t>was</a:t>
            </a:r>
            <a:r>
              <a:rPr sz="1900" b="1" spc="-4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to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see</a:t>
            </a:r>
            <a:r>
              <a:rPr sz="190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if</a:t>
            </a:r>
            <a:r>
              <a:rPr sz="1900" b="1" spc="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neural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networks</a:t>
            </a:r>
            <a:r>
              <a:rPr sz="19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are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able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to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classify</a:t>
            </a:r>
            <a:r>
              <a:rPr sz="1900" b="1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signed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ISL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letters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 using </a:t>
            </a:r>
            <a:r>
              <a:rPr sz="1900" b="1" spc="-459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simple</a:t>
            </a:r>
            <a:r>
              <a:rPr sz="1900" b="1" spc="-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images</a:t>
            </a:r>
            <a:r>
              <a:rPr sz="190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of</a:t>
            </a:r>
            <a:r>
              <a:rPr sz="1900" b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hands</a:t>
            </a:r>
            <a:r>
              <a:rPr sz="1900" b="1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taken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with</a:t>
            </a:r>
            <a:r>
              <a:rPr sz="19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personal</a:t>
            </a:r>
            <a:r>
              <a:rPr sz="19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device</a:t>
            </a:r>
            <a:r>
              <a:rPr sz="1900" b="1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such</a:t>
            </a:r>
            <a:r>
              <a:rPr sz="190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1900" b="1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90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laptop</a:t>
            </a:r>
            <a:r>
              <a:rPr sz="190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900" b="1" spc="15" dirty="0">
                <a:solidFill>
                  <a:srgbClr val="595959"/>
                </a:solidFill>
                <a:latin typeface="Times New Roman"/>
                <a:cs typeface="Times New Roman"/>
              </a:rPr>
              <a:t>webcam.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1802" y="1268956"/>
            <a:ext cx="2265680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17597" y="2964941"/>
            <a:ext cx="6457315" cy="3148965"/>
            <a:chOff x="2117597" y="2964941"/>
            <a:chExt cx="6457315" cy="3148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1511" y="3038856"/>
              <a:ext cx="6312407" cy="30007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56459" y="3003803"/>
              <a:ext cx="6379845" cy="3070860"/>
            </a:xfrm>
            <a:custGeom>
              <a:avLst/>
              <a:gdLst/>
              <a:ahLst/>
              <a:cxnLst/>
              <a:rect l="l" t="t" r="r" b="b"/>
              <a:pathLst>
                <a:path w="6379845" h="3070860">
                  <a:moveTo>
                    <a:pt x="0" y="0"/>
                  </a:moveTo>
                  <a:lnTo>
                    <a:pt x="6379463" y="0"/>
                  </a:lnTo>
                  <a:lnTo>
                    <a:pt x="6379463" y="3070860"/>
                  </a:lnTo>
                  <a:lnTo>
                    <a:pt x="0" y="3070860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1511" y="3038856"/>
              <a:ext cx="6312407" cy="30007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56459" y="3003803"/>
              <a:ext cx="6379845" cy="3070860"/>
            </a:xfrm>
            <a:custGeom>
              <a:avLst/>
              <a:gdLst/>
              <a:ahLst/>
              <a:cxnLst/>
              <a:rect l="l" t="t" r="r" b="b"/>
              <a:pathLst>
                <a:path w="6379845" h="3070860">
                  <a:moveTo>
                    <a:pt x="0" y="0"/>
                  </a:moveTo>
                  <a:lnTo>
                    <a:pt x="6379463" y="0"/>
                  </a:lnTo>
                  <a:lnTo>
                    <a:pt x="6379463" y="3070860"/>
                  </a:lnTo>
                  <a:lnTo>
                    <a:pt x="0" y="3070860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4344" y="1022028"/>
            <a:ext cx="5882005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Technologies used</a:t>
            </a:r>
            <a:r>
              <a:rPr spc="5" dirty="0"/>
              <a:t> </a:t>
            </a:r>
            <a:r>
              <a:rPr spc="-10" dirty="0"/>
              <a:t>for</a:t>
            </a:r>
            <a:r>
              <a:rPr spc="-20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5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70935" y="2645740"/>
            <a:ext cx="6084570" cy="1909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6060" indent="-213995">
              <a:lnSpc>
                <a:spcPts val="2635"/>
              </a:lnSpc>
              <a:buSzPct val="145714"/>
              <a:buFont typeface="Times New Roman"/>
              <a:buChar char="●"/>
              <a:tabLst>
                <a:tab pos="226695" algn="l"/>
              </a:tabLst>
            </a:pP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Python</a:t>
            </a:r>
            <a:r>
              <a:rPr sz="1750" b="1" spc="-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dirty="0">
                <a:solidFill>
                  <a:srgbClr val="595959"/>
                </a:solidFill>
                <a:latin typeface="Times New Roman"/>
                <a:cs typeface="Times New Roman"/>
              </a:rPr>
              <a:t>3.9.7</a:t>
            </a:r>
            <a:r>
              <a:rPr sz="1750" b="1" spc="434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1750" spc="-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595959"/>
                </a:solidFill>
                <a:latin typeface="Times New Roman"/>
                <a:cs typeface="Times New Roman"/>
              </a:rPr>
              <a:t>Machine</a:t>
            </a:r>
            <a:r>
              <a:rPr sz="175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Learning.</a:t>
            </a:r>
            <a:endParaRPr sz="1750">
              <a:latin typeface="Times New Roman"/>
              <a:cs typeface="Times New Roman"/>
            </a:endParaRPr>
          </a:p>
          <a:p>
            <a:pPr marL="226060" marR="5080" indent="-213995">
              <a:lnSpc>
                <a:spcPct val="105400"/>
              </a:lnSpc>
              <a:spcBef>
                <a:spcPts val="60"/>
              </a:spcBef>
              <a:buSzPct val="145714"/>
              <a:buFont typeface="Times New Roman"/>
              <a:buChar char="●"/>
              <a:tabLst>
                <a:tab pos="226695" algn="l"/>
              </a:tabLst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Flutter</a:t>
            </a:r>
            <a:r>
              <a:rPr sz="1750" b="1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1750" dirty="0">
                <a:solidFill>
                  <a:srgbClr val="595959"/>
                </a:solidFill>
                <a:latin typeface="Times New Roman"/>
                <a:cs typeface="Times New Roman"/>
              </a:rPr>
              <a:t> Android Application</a:t>
            </a:r>
            <a:r>
              <a:rPr sz="175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development</a:t>
            </a:r>
            <a:r>
              <a:rPr sz="175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and</a:t>
            </a:r>
            <a:r>
              <a:rPr sz="175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595959"/>
                </a:solidFill>
                <a:latin typeface="Times New Roman"/>
                <a:cs typeface="Times New Roman"/>
              </a:rPr>
              <a:t>User Interface </a:t>
            </a:r>
            <a:r>
              <a:rPr sz="1750" spc="-42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Development.</a:t>
            </a:r>
            <a:endParaRPr sz="1750">
              <a:latin typeface="Times New Roman"/>
              <a:cs typeface="Times New Roman"/>
            </a:endParaRPr>
          </a:p>
          <a:p>
            <a:pPr marL="226060" indent="-213995">
              <a:lnSpc>
                <a:spcPct val="100000"/>
              </a:lnSpc>
              <a:spcBef>
                <a:spcPts val="400"/>
              </a:spcBef>
              <a:buSzPct val="145714"/>
              <a:buFont typeface="Times New Roman"/>
              <a:buChar char="●"/>
              <a:tabLst>
                <a:tab pos="226695" algn="l"/>
              </a:tabLst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Anaconda3</a:t>
            </a:r>
            <a:r>
              <a:rPr sz="1750" b="1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175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595959"/>
                </a:solidFill>
                <a:latin typeface="Times New Roman"/>
                <a:cs typeface="Times New Roman"/>
              </a:rPr>
              <a:t>an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environment</a:t>
            </a:r>
            <a:r>
              <a:rPr sz="1750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1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175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595959"/>
                </a:solidFill>
                <a:latin typeface="Times New Roman"/>
                <a:cs typeface="Times New Roman"/>
              </a:rPr>
              <a:t>ML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implementations.</a:t>
            </a:r>
            <a:endParaRPr sz="1750">
              <a:latin typeface="Times New Roman"/>
              <a:cs typeface="Times New Roman"/>
            </a:endParaRPr>
          </a:p>
          <a:p>
            <a:pPr marL="226060" indent="-213995">
              <a:lnSpc>
                <a:spcPct val="100000"/>
              </a:lnSpc>
              <a:spcBef>
                <a:spcPts val="229"/>
              </a:spcBef>
              <a:buSzPct val="145714"/>
              <a:buFont typeface="Times New Roman"/>
              <a:buChar char="●"/>
              <a:tabLst>
                <a:tab pos="226695" algn="l"/>
              </a:tabLst>
            </a:pP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Android</a:t>
            </a:r>
            <a:r>
              <a:rPr sz="1750" b="1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b="1" spc="-5" dirty="0">
                <a:solidFill>
                  <a:srgbClr val="595959"/>
                </a:solidFill>
                <a:latin typeface="Times New Roman"/>
                <a:cs typeface="Times New Roman"/>
              </a:rPr>
              <a:t>Studio</a:t>
            </a:r>
            <a:r>
              <a:rPr sz="1750" b="1" spc="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595959"/>
                </a:solidFill>
                <a:latin typeface="Times New Roman"/>
                <a:cs typeface="Times New Roman"/>
              </a:rPr>
              <a:t>as</a:t>
            </a:r>
            <a:r>
              <a:rPr sz="1750" spc="-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595959"/>
                </a:solidFill>
                <a:latin typeface="Times New Roman"/>
                <a:cs typeface="Times New Roman"/>
              </a:rPr>
              <a:t>a</a:t>
            </a:r>
            <a:r>
              <a:rPr sz="1750" spc="2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software </a:t>
            </a:r>
            <a:r>
              <a:rPr sz="1750" spc="-10" dirty="0">
                <a:solidFill>
                  <a:srgbClr val="595959"/>
                </a:solidFill>
                <a:latin typeface="Times New Roman"/>
                <a:cs typeface="Times New Roman"/>
              </a:rPr>
              <a:t>for</a:t>
            </a:r>
            <a:r>
              <a:rPr sz="1750" spc="15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595959"/>
                </a:solidFill>
                <a:latin typeface="Times New Roman"/>
                <a:cs typeface="Times New Roman"/>
              </a:rPr>
              <a:t>Android</a:t>
            </a:r>
            <a:r>
              <a:rPr sz="1750" spc="1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spc="-5" dirty="0">
                <a:solidFill>
                  <a:srgbClr val="595959"/>
                </a:solidFill>
                <a:latin typeface="Times New Roman"/>
                <a:cs typeface="Times New Roman"/>
              </a:rPr>
              <a:t>application</a:t>
            </a:r>
            <a:r>
              <a:rPr sz="1750" spc="-30" dirty="0">
                <a:solidFill>
                  <a:srgbClr val="595959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595959"/>
                </a:solidFill>
                <a:latin typeface="Times New Roman"/>
                <a:cs typeface="Times New Roman"/>
              </a:rPr>
              <a:t>design.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392" y="3150108"/>
            <a:ext cx="1280160" cy="1796414"/>
            <a:chOff x="88392" y="3150108"/>
            <a:chExt cx="1280160" cy="179641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392" y="4543044"/>
              <a:ext cx="1280159" cy="4031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2" y="3150108"/>
              <a:ext cx="1280159" cy="139750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8437626" y="4284726"/>
            <a:ext cx="1888489" cy="1888489"/>
            <a:chOff x="8437626" y="4284726"/>
            <a:chExt cx="1888489" cy="188848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8492" y="4355592"/>
              <a:ext cx="1741932" cy="17419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76488" y="4323588"/>
              <a:ext cx="1811020" cy="1811020"/>
            </a:xfrm>
            <a:custGeom>
              <a:avLst/>
              <a:gdLst/>
              <a:ahLst/>
              <a:cxnLst/>
              <a:rect l="l" t="t" r="r" b="b"/>
              <a:pathLst>
                <a:path w="1811020" h="1811020">
                  <a:moveTo>
                    <a:pt x="0" y="0"/>
                  </a:moveTo>
                  <a:lnTo>
                    <a:pt x="1810512" y="0"/>
                  </a:lnTo>
                  <a:lnTo>
                    <a:pt x="1810512" y="1810511"/>
                  </a:lnTo>
                  <a:lnTo>
                    <a:pt x="0" y="1810511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8492" y="4355592"/>
              <a:ext cx="1741932" cy="174193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476488" y="4323588"/>
              <a:ext cx="1811020" cy="1811020"/>
            </a:xfrm>
            <a:custGeom>
              <a:avLst/>
              <a:gdLst/>
              <a:ahLst/>
              <a:cxnLst/>
              <a:rect l="l" t="t" r="r" b="b"/>
              <a:pathLst>
                <a:path w="1811020" h="1811020">
                  <a:moveTo>
                    <a:pt x="0" y="0"/>
                  </a:moveTo>
                  <a:lnTo>
                    <a:pt x="1810512" y="0"/>
                  </a:lnTo>
                  <a:lnTo>
                    <a:pt x="1810512" y="1810511"/>
                  </a:lnTo>
                  <a:lnTo>
                    <a:pt x="0" y="1810511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794510" y="4880609"/>
            <a:ext cx="1424940" cy="1691639"/>
            <a:chOff x="1794510" y="4880609"/>
            <a:chExt cx="1424940" cy="1691639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6900" y="4949951"/>
              <a:ext cx="1280159" cy="15514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33372" y="4919471"/>
              <a:ext cx="1347470" cy="1614170"/>
            </a:xfrm>
            <a:custGeom>
              <a:avLst/>
              <a:gdLst/>
              <a:ahLst/>
              <a:cxnLst/>
              <a:rect l="l" t="t" r="r" b="b"/>
              <a:pathLst>
                <a:path w="1347470" h="1614170">
                  <a:moveTo>
                    <a:pt x="0" y="0"/>
                  </a:moveTo>
                  <a:lnTo>
                    <a:pt x="1347216" y="0"/>
                  </a:lnTo>
                  <a:lnTo>
                    <a:pt x="1347216" y="1613916"/>
                  </a:lnTo>
                  <a:lnTo>
                    <a:pt x="0" y="1613916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66900" y="4949951"/>
              <a:ext cx="1280159" cy="155143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33372" y="4919471"/>
              <a:ext cx="1347470" cy="1614170"/>
            </a:xfrm>
            <a:custGeom>
              <a:avLst/>
              <a:gdLst/>
              <a:ahLst/>
              <a:cxnLst/>
              <a:rect l="l" t="t" r="r" b="b"/>
              <a:pathLst>
                <a:path w="1347470" h="1614170">
                  <a:moveTo>
                    <a:pt x="0" y="0"/>
                  </a:moveTo>
                  <a:lnTo>
                    <a:pt x="1347216" y="0"/>
                  </a:lnTo>
                  <a:lnTo>
                    <a:pt x="1347216" y="1613916"/>
                  </a:lnTo>
                  <a:lnTo>
                    <a:pt x="0" y="1613916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943093" y="4754117"/>
            <a:ext cx="2981325" cy="1693545"/>
            <a:chOff x="4943093" y="4754117"/>
            <a:chExt cx="2981325" cy="169354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17007" y="4826507"/>
              <a:ext cx="2834640" cy="154533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981955" y="4792979"/>
              <a:ext cx="2903220" cy="1615440"/>
            </a:xfrm>
            <a:custGeom>
              <a:avLst/>
              <a:gdLst/>
              <a:ahLst/>
              <a:cxnLst/>
              <a:rect l="l" t="t" r="r" b="b"/>
              <a:pathLst>
                <a:path w="2903220" h="1615439">
                  <a:moveTo>
                    <a:pt x="0" y="0"/>
                  </a:moveTo>
                  <a:lnTo>
                    <a:pt x="2903220" y="0"/>
                  </a:lnTo>
                  <a:lnTo>
                    <a:pt x="2903220" y="1615439"/>
                  </a:lnTo>
                  <a:lnTo>
                    <a:pt x="0" y="1615439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7007" y="4826507"/>
              <a:ext cx="2834640" cy="15453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981955" y="4792979"/>
              <a:ext cx="2903220" cy="1615440"/>
            </a:xfrm>
            <a:custGeom>
              <a:avLst/>
              <a:gdLst/>
              <a:ahLst/>
              <a:cxnLst/>
              <a:rect l="l" t="t" r="r" b="b"/>
              <a:pathLst>
                <a:path w="2903220" h="1615439">
                  <a:moveTo>
                    <a:pt x="0" y="0"/>
                  </a:moveTo>
                  <a:lnTo>
                    <a:pt x="2903220" y="0"/>
                  </a:lnTo>
                  <a:lnTo>
                    <a:pt x="2903220" y="1615439"/>
                  </a:lnTo>
                  <a:lnTo>
                    <a:pt x="0" y="1615439"/>
                  </a:lnTo>
                  <a:lnTo>
                    <a:pt x="0" y="0"/>
                  </a:lnTo>
                  <a:close/>
                </a:path>
              </a:pathLst>
            </a:custGeom>
            <a:ln w="777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12090" y="1022028"/>
            <a:ext cx="2666365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Propose</a:t>
            </a:r>
            <a:r>
              <a:rPr spc="-50" dirty="0"/>
              <a:t> </a:t>
            </a:r>
            <a:r>
              <a:rPr spc="-1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6984" y="2435351"/>
            <a:ext cx="1812035" cy="36377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9100" y="2435351"/>
            <a:ext cx="2115311" cy="36377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124" y="2439924"/>
            <a:ext cx="1924811" cy="3703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26664" y="2435351"/>
            <a:ext cx="1920239" cy="3637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274" y="907705"/>
            <a:ext cx="6203315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Architecture</a:t>
            </a:r>
            <a:r>
              <a:rPr spc="10" dirty="0"/>
              <a:t> </a:t>
            </a:r>
            <a:r>
              <a:rPr spc="-5" dirty="0"/>
              <a:t>of</a:t>
            </a:r>
            <a:r>
              <a:rPr spc="-15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15" dirty="0"/>
              <a:t>CNN</a:t>
            </a:r>
            <a:r>
              <a:rPr spc="20" dirty="0"/>
              <a:t> </a:t>
            </a:r>
            <a:r>
              <a:rPr spc="-10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731" y="1700783"/>
            <a:ext cx="10390632" cy="4401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7852" y="1198934"/>
            <a:ext cx="2576195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50" spc="5" dirty="0"/>
              <a:t>UML</a:t>
            </a:r>
            <a:r>
              <a:rPr sz="3150" spc="-80" dirty="0"/>
              <a:t> </a:t>
            </a:r>
            <a:r>
              <a:rPr sz="315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" y="1953767"/>
            <a:ext cx="9102851" cy="4684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7648" y="428625"/>
            <a:ext cx="3538104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1183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" y="2004060"/>
            <a:ext cx="2546603" cy="37856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5555" y="2066544"/>
            <a:ext cx="2139695" cy="36606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73496" y="2124456"/>
            <a:ext cx="1895855" cy="34655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67344" y="2124455"/>
            <a:ext cx="1895855" cy="34701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300" y="0"/>
            <a:ext cx="5697854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15" dirty="0"/>
              <a:t>Models</a:t>
            </a:r>
            <a:r>
              <a:rPr sz="2400" spc="-35" dirty="0"/>
              <a:t> </a:t>
            </a:r>
            <a:r>
              <a:rPr sz="2400" spc="10" dirty="0"/>
              <a:t>Accuracy</a:t>
            </a:r>
            <a:r>
              <a:rPr sz="2400" dirty="0"/>
              <a:t> </a:t>
            </a:r>
            <a:r>
              <a:rPr sz="2400" spc="15" dirty="0"/>
              <a:t>and</a:t>
            </a:r>
            <a:r>
              <a:rPr sz="2400" spc="-30" dirty="0"/>
              <a:t> </a:t>
            </a:r>
            <a:r>
              <a:rPr sz="2400" spc="15" dirty="0"/>
              <a:t>loss</a:t>
            </a:r>
            <a:r>
              <a:rPr sz="2400" spc="-30" dirty="0"/>
              <a:t> </a:t>
            </a:r>
            <a:r>
              <a:rPr sz="2400" spc="15" dirty="0"/>
              <a:t>Comparison</a:t>
            </a:r>
            <a:endParaRPr sz="2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444" y="1038226"/>
            <a:ext cx="3894056" cy="27897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500" y="4018788"/>
            <a:ext cx="4046841" cy="227723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710684" y="1359408"/>
            <a:ext cx="24765" cy="5396865"/>
          </a:xfrm>
          <a:custGeom>
            <a:avLst/>
            <a:gdLst/>
            <a:ahLst/>
            <a:cxnLst/>
            <a:rect l="l" t="t" r="r" b="b"/>
            <a:pathLst>
              <a:path w="24764" h="5396865">
                <a:moveTo>
                  <a:pt x="0" y="0"/>
                </a:moveTo>
                <a:lnTo>
                  <a:pt x="24383" y="5396484"/>
                </a:lnTo>
              </a:path>
            </a:pathLst>
          </a:custGeom>
          <a:ln w="7620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60350" y="6339380"/>
            <a:ext cx="24371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Recent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Model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Loss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Accuracy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5629" y="6505464"/>
            <a:ext cx="2214880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b="1" spc="5" dirty="0">
                <a:latin typeface="Calibri"/>
                <a:cs typeface="Calibri"/>
              </a:rPr>
              <a:t>Previous </a:t>
            </a:r>
            <a:r>
              <a:rPr sz="1200" b="1" spc="10" dirty="0">
                <a:latin typeface="Calibri"/>
                <a:cs typeface="Calibri"/>
              </a:rPr>
              <a:t>Model</a:t>
            </a:r>
            <a:r>
              <a:rPr sz="1200" b="1" spc="5" dirty="0">
                <a:latin typeface="Calibri"/>
                <a:cs typeface="Calibri"/>
              </a:rPr>
              <a:t> loss</a:t>
            </a:r>
            <a:r>
              <a:rPr sz="1200" b="1" spc="10" dirty="0">
                <a:latin typeface="Calibri"/>
                <a:cs typeface="Calibri"/>
              </a:rPr>
              <a:t> and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10" dirty="0"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26" name="Picture 2" descr="F:\Screenshot (47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18100" y="1343025"/>
            <a:ext cx="4652540" cy="2438400"/>
          </a:xfrm>
          <a:prstGeom prst="rect">
            <a:avLst/>
          </a:prstGeom>
          <a:noFill/>
        </p:spPr>
      </p:pic>
      <p:pic>
        <p:nvPicPr>
          <p:cNvPr id="1027" name="Picture 3" descr="F:\Screenshot (47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94300" y="3857625"/>
            <a:ext cx="4495800" cy="23562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7422" y="1267549"/>
            <a:ext cx="1990725" cy="519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981" y="1950205"/>
            <a:ext cx="9998075" cy="1790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5"/>
              </a:spcBef>
            </a:pPr>
            <a:r>
              <a:rPr sz="1900" spc="10" dirty="0">
                <a:latin typeface="Times New Roman"/>
                <a:cs typeface="Times New Roman"/>
              </a:rPr>
              <a:t>Our project </a:t>
            </a:r>
            <a:r>
              <a:rPr sz="1900" spc="15" dirty="0">
                <a:latin typeface="Times New Roman"/>
                <a:cs typeface="Times New Roman"/>
              </a:rPr>
              <a:t>on Indian </a:t>
            </a:r>
            <a:r>
              <a:rPr sz="1900" spc="10" dirty="0">
                <a:latin typeface="Times New Roman"/>
                <a:cs typeface="Times New Roman"/>
              </a:rPr>
              <a:t>Sign Language Detection </a:t>
            </a:r>
            <a:r>
              <a:rPr sz="1900" spc="15" dirty="0">
                <a:latin typeface="Times New Roman"/>
                <a:cs typeface="Times New Roman"/>
              </a:rPr>
              <a:t>using Machine </a:t>
            </a:r>
            <a:r>
              <a:rPr sz="1900" spc="10" dirty="0">
                <a:latin typeface="Times New Roman"/>
                <a:cs typeface="Times New Roman"/>
              </a:rPr>
              <a:t>Learning </a:t>
            </a:r>
            <a:r>
              <a:rPr sz="1900" spc="15" dirty="0">
                <a:latin typeface="Times New Roman"/>
                <a:cs typeface="Times New Roman"/>
              </a:rPr>
              <a:t>Android </a:t>
            </a:r>
            <a:r>
              <a:rPr sz="1900" spc="10" dirty="0">
                <a:latin typeface="Times New Roman"/>
                <a:cs typeface="Times New Roman"/>
              </a:rPr>
              <a:t>application has 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successfully </a:t>
            </a:r>
            <a:r>
              <a:rPr sz="1900" spc="10" dirty="0">
                <a:latin typeface="Times New Roman"/>
                <a:cs typeface="Times New Roman"/>
              </a:rPr>
              <a:t>developed a user-friendly and </a:t>
            </a:r>
            <a:r>
              <a:rPr sz="1900" spc="5" dirty="0">
                <a:latin typeface="Times New Roman"/>
                <a:cs typeface="Times New Roman"/>
              </a:rPr>
              <a:t>accurate </a:t>
            </a:r>
            <a:r>
              <a:rPr sz="1900" spc="10" dirty="0">
                <a:latin typeface="Times New Roman"/>
                <a:cs typeface="Times New Roman"/>
              </a:rPr>
              <a:t>solution for </a:t>
            </a:r>
            <a:r>
              <a:rPr sz="1900" spc="15" dirty="0">
                <a:latin typeface="Times New Roman"/>
                <a:cs typeface="Times New Roman"/>
              </a:rPr>
              <a:t>bridging </a:t>
            </a:r>
            <a:r>
              <a:rPr sz="1900" spc="10" dirty="0">
                <a:latin typeface="Times New Roman"/>
                <a:cs typeface="Times New Roman"/>
              </a:rPr>
              <a:t>the </a:t>
            </a:r>
            <a:r>
              <a:rPr sz="1900" spc="5" dirty="0">
                <a:latin typeface="Times New Roman"/>
                <a:cs typeface="Times New Roman"/>
              </a:rPr>
              <a:t>communication </a:t>
            </a:r>
            <a:r>
              <a:rPr sz="1900" spc="10" dirty="0">
                <a:latin typeface="Times New Roman"/>
                <a:cs typeface="Times New Roman"/>
              </a:rPr>
              <a:t>gap 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between individuals with </a:t>
            </a:r>
            <a:r>
              <a:rPr sz="1900" spc="5" dirty="0">
                <a:latin typeface="Times New Roman"/>
                <a:cs typeface="Times New Roman"/>
              </a:rPr>
              <a:t>speech </a:t>
            </a:r>
            <a:r>
              <a:rPr sz="1900" spc="15" dirty="0">
                <a:latin typeface="Times New Roman"/>
                <a:cs typeface="Times New Roman"/>
              </a:rPr>
              <a:t>and </a:t>
            </a:r>
            <a:r>
              <a:rPr sz="1900" spc="10" dirty="0">
                <a:latin typeface="Times New Roman"/>
                <a:cs typeface="Times New Roman"/>
              </a:rPr>
              <a:t>hearing </a:t>
            </a:r>
            <a:r>
              <a:rPr sz="1900" spc="5" dirty="0">
                <a:latin typeface="Times New Roman"/>
                <a:cs typeface="Times New Roman"/>
              </a:rPr>
              <a:t>impairments </a:t>
            </a:r>
            <a:r>
              <a:rPr sz="1900" spc="15" dirty="0">
                <a:latin typeface="Times New Roman"/>
                <a:cs typeface="Times New Roman"/>
              </a:rPr>
              <a:t>and </a:t>
            </a:r>
            <a:r>
              <a:rPr sz="1900" spc="10" dirty="0">
                <a:latin typeface="Times New Roman"/>
                <a:cs typeface="Times New Roman"/>
              </a:rPr>
              <a:t>the general </a:t>
            </a:r>
            <a:r>
              <a:rPr sz="1900" spc="15" dirty="0">
                <a:latin typeface="Times New Roman"/>
                <a:cs typeface="Times New Roman"/>
              </a:rPr>
              <a:t>population. </a:t>
            </a:r>
            <a:r>
              <a:rPr sz="1900" spc="20" dirty="0">
                <a:latin typeface="Times New Roman"/>
                <a:cs typeface="Times New Roman"/>
              </a:rPr>
              <a:t>By </a:t>
            </a:r>
            <a:r>
              <a:rPr sz="1900" spc="10" dirty="0">
                <a:latin typeface="Times New Roman"/>
                <a:cs typeface="Times New Roman"/>
              </a:rPr>
              <a:t>leveraging 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machine learning techniques, </a:t>
            </a:r>
            <a:r>
              <a:rPr sz="1900" spc="15" dirty="0">
                <a:latin typeface="Times New Roman"/>
                <a:cs typeface="Times New Roman"/>
              </a:rPr>
              <a:t>we have </a:t>
            </a:r>
            <a:r>
              <a:rPr sz="1900" spc="5" dirty="0">
                <a:latin typeface="Times New Roman"/>
                <a:cs typeface="Times New Roman"/>
              </a:rPr>
              <a:t>created </a:t>
            </a:r>
            <a:r>
              <a:rPr sz="1900" spc="10" dirty="0">
                <a:latin typeface="Times New Roman"/>
                <a:cs typeface="Times New Roman"/>
              </a:rPr>
              <a:t>an intuitive application </a:t>
            </a:r>
            <a:r>
              <a:rPr sz="1900" spc="5" dirty="0">
                <a:latin typeface="Times New Roman"/>
                <a:cs typeface="Times New Roman"/>
              </a:rPr>
              <a:t>that </a:t>
            </a:r>
            <a:r>
              <a:rPr sz="1900" spc="10" dirty="0">
                <a:latin typeface="Times New Roman"/>
                <a:cs typeface="Times New Roman"/>
              </a:rPr>
              <a:t>can recognize and translate </a:t>
            </a:r>
            <a:r>
              <a:rPr sz="1900" spc="-459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Indian </a:t>
            </a:r>
            <a:r>
              <a:rPr sz="1900" spc="15" dirty="0">
                <a:latin typeface="Times New Roman"/>
                <a:cs typeface="Times New Roman"/>
              </a:rPr>
              <a:t>Sign </a:t>
            </a:r>
            <a:r>
              <a:rPr sz="1900" spc="10" dirty="0">
                <a:latin typeface="Times New Roman"/>
                <a:cs typeface="Times New Roman"/>
              </a:rPr>
              <a:t>Language gestures in </a:t>
            </a:r>
            <a:r>
              <a:rPr sz="1900" spc="5" dirty="0">
                <a:latin typeface="Times New Roman"/>
                <a:cs typeface="Times New Roman"/>
              </a:rPr>
              <a:t>real-time, </a:t>
            </a:r>
            <a:r>
              <a:rPr sz="1900" spc="10" dirty="0">
                <a:latin typeface="Times New Roman"/>
                <a:cs typeface="Times New Roman"/>
              </a:rPr>
              <a:t>empowering individuals with </a:t>
            </a:r>
            <a:r>
              <a:rPr sz="1900" spc="5" dirty="0">
                <a:latin typeface="Times New Roman"/>
                <a:cs typeface="Times New Roman"/>
              </a:rPr>
              <a:t>disabilities </a:t>
            </a:r>
            <a:r>
              <a:rPr sz="1900" spc="10" dirty="0">
                <a:latin typeface="Times New Roman"/>
                <a:cs typeface="Times New Roman"/>
              </a:rPr>
              <a:t>to express 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themselves effectively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and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fostering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inclusivity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</a:t>
            </a:r>
            <a:r>
              <a:rPr sz="1900" spc="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society.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09FE63-3309-4520-BCEC-70D809A9A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005" y="352425"/>
            <a:ext cx="9089390" cy="500137"/>
          </a:xfrm>
        </p:spPr>
        <p:txBody>
          <a:bodyPr/>
          <a:lstStyle/>
          <a:p>
            <a:pPr algn="ctr"/>
            <a:r>
              <a:rPr lang="en-US" dirty="0"/>
              <a:t>Website Portfolio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0BE1EC2-AC5D-4024-A985-A7B919D5244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604010" y="1266825"/>
            <a:ext cx="7485380" cy="200054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>
                <a:hlinkClick r:id="rId2"/>
              </a:rPr>
              <a:t>https</a:t>
            </a:r>
            <a:r>
              <a:rPr lang="en-IN" dirty="0">
                <a:hlinkClick r:id="rId2"/>
              </a:rPr>
              <a:t>://</a:t>
            </a:r>
            <a:r>
              <a:rPr lang="en-IN" dirty="0" smtClean="0">
                <a:hlinkClick r:id="rId2"/>
              </a:rPr>
              <a:t>piyushbl45t.github.io/Project-Portfolio-Website/</a:t>
            </a: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endParaRPr lang="en-IN" dirty="0" smtClean="0"/>
          </a:p>
          <a:p>
            <a:pPr marL="514350" indent="-514350">
              <a:buFont typeface="+mj-lt"/>
              <a:buAutoNum type="arabicPeriod"/>
            </a:pPr>
            <a:r>
              <a:rPr lang="en-IN" dirty="0" smtClean="0">
                <a:hlinkClick r:id="rId3"/>
              </a:rPr>
              <a:t>https://github.com/PiyushBL45t/ISL---Project-4th-year-SVIT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60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720" y="2547575"/>
            <a:ext cx="2994025" cy="6146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i="1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sz="385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85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3850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850" i="1" spc="5" dirty="0">
                <a:solidFill>
                  <a:srgbClr val="FF0000"/>
                </a:solidFill>
                <a:latin typeface="Times New Roman"/>
                <a:cs typeface="Times New Roman"/>
              </a:rPr>
              <a:t>!!!</a:t>
            </a:r>
            <a:endParaRPr sz="3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827</Words>
  <Application>Microsoft Office PowerPoint</Application>
  <PresentationFormat>Custom</PresentationFormat>
  <Paragraphs>70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Savitribai Phule Pune University</vt:lpstr>
      <vt:lpstr>Sir Visvesvaraya Institute of Technology ,Chincholi, Nashik</vt:lpstr>
      <vt:lpstr>Student details</vt:lpstr>
      <vt:lpstr>Table of Contents</vt:lpstr>
      <vt:lpstr>Abstract</vt:lpstr>
      <vt:lpstr>Introduction</vt:lpstr>
      <vt:lpstr>Literature Survey</vt:lpstr>
      <vt:lpstr>Aim</vt:lpstr>
      <vt:lpstr>Objective</vt:lpstr>
      <vt:lpstr>Proposed System</vt:lpstr>
      <vt:lpstr>Architecture</vt:lpstr>
      <vt:lpstr>Technologies used for the Project</vt:lpstr>
      <vt:lpstr>Propose Model</vt:lpstr>
      <vt:lpstr>Architecture of the CNN algorithm</vt:lpstr>
      <vt:lpstr>UML Diagram</vt:lpstr>
      <vt:lpstr>Implementation</vt:lpstr>
      <vt:lpstr>Models Accuracy and loss Comparison</vt:lpstr>
      <vt:lpstr>Conclusion</vt:lpstr>
      <vt:lpstr>Website Portfolio </vt:lpstr>
      <vt:lpstr>Thank You !!!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G1_Project_Presentation</dc:title>
  <dc:creator>PIYUSH</dc:creator>
  <cp:lastModifiedBy>Windows User</cp:lastModifiedBy>
  <cp:revision>6</cp:revision>
  <dcterms:created xsi:type="dcterms:W3CDTF">2023-05-30T15:51:21Z</dcterms:created>
  <dcterms:modified xsi:type="dcterms:W3CDTF">2023-10-13T09:13:12Z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2023-05-30T00:00:00Z</vt:filetime>
  </property>
  <property fmtid="{D5CDD505-2E9C-101B-9397-08002B2CF9AE}" pid="3" name="LastSaved">
    <vt:filetime>2023-05-30T00:00:00Z</vt:filetime>
  </property>
</Properties>
</file>